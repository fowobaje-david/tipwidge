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148085908000" cy="14630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11480859080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200" b="1">
                <a:solidFill>
                  <a:srgbClr val="FF8C00"/>
                </a:solidFill>
                <a:latin typeface="Segoe UI"/>
              </a:rPr>
              <a:t>⚡  LIGHTNING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Lightning-Powered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Tipping Widget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>
                <a:solidFill>
                  <a:srgbClr val="C2C8D0"/>
                </a:solidFill>
                <a:latin typeface="Segoe UI"/>
              </a:rPr>
              <a:t>An embeddable tip jar with a live feed and sub-second confirmations.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>
                <a:solidFill>
                  <a:srgbClr val="8A939F"/>
                </a:solidFill>
                <a:latin typeface="Segoe UI"/>
              </a:rPr>
              <a:t>Real sats. Real Lightning node. Verifiable on-chain.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8A939F"/>
                </a:solidFill>
                <a:latin typeface="Segoe UI"/>
              </a:rPr>
              <a:t>Platform Guide  ·  Built on Next.js + LNbits  ·  Deployed on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Creators struggle to accept small tips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29000" cy="21945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Patreon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Heavy monthly subscriptions, not one-off thanks.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429000" cy="21945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3317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PayPal / Stripe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6324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Accounts, high fees, and slow settlement.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103120"/>
            <a:ext cx="3429000" cy="21945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317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On-chain Bitcoin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6324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Minutes to confirm, dollars in fees — useless for tips.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The result: micro-support is too much friction, so it never happens.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A one-line, instant Lightning tip jar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5836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800" b="0">
                <a:solidFill>
                  <a:srgbClr val="C2C8D0"/>
                </a:solidFill>
                <a:latin typeface="Segoe UI"/>
              </a:rPr>
              <a:t>Viewers tip in one tap — scan a QR or open their wallet.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800" b="0">
                <a:solidFill>
                  <a:srgbClr val="C2C8D0"/>
                </a:solidFill>
                <a:latin typeface="Segoe UI"/>
              </a:rPr>
              <a:t>Sats arrive in under 2 seconds, fees a fraction of a cent.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800" b="0">
                <a:solidFill>
                  <a:srgbClr val="C2C8D0"/>
                </a:solidFill>
                <a:latin typeface="Segoe UI"/>
              </a:rPr>
              <a:t>Every tip pops into a live feed — building community &amp; FOMO.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800" b="0">
                <a:solidFill>
                  <a:srgbClr val="C2C8D0"/>
                </a:solidFill>
                <a:latin typeface="Segoe UI"/>
              </a:rPr>
              <a:t>Creators embed it with a single line of code, anywhere.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800" b="0">
                <a:solidFill>
                  <a:srgbClr val="C2C8D0"/>
                </a:solidFill>
                <a:latin typeface="Segoe UI"/>
              </a:rPr>
              <a:t>No account needed for tippers. No middleman holding funds.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011680"/>
            <a:ext cx="3931920" cy="40233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24028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F8C00"/>
                </a:solidFill>
                <a:latin typeface="Segoe UI"/>
              </a:rPr>
              <a:t>⚡ The widget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743200"/>
            <a:ext cx="3474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8A939F"/>
                </a:solidFill>
                <a:latin typeface="Segoe UI"/>
              </a:rPr>
              <a:t>[ QR code ]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600" b="0">
                <a:solidFill>
                  <a:srgbClr val="8A939F"/>
                </a:solidFill>
                <a:latin typeface="Segoe UI"/>
              </a:rPr>
              <a:t/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C2C8D0"/>
                </a:solidFill>
                <a:latin typeface="Segoe UI"/>
              </a:rPr>
              <a:t>Quick tips:  100  500  1K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600" b="0">
                <a:solidFill>
                  <a:srgbClr val="8A939F"/>
                </a:solidFill>
                <a:latin typeface="Segoe UI"/>
              </a:rPr>
              <a:t/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Recent Tips 💜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10B981"/>
                </a:solidFill>
                <a:latin typeface="Segoe UI"/>
              </a:rPr>
              <a:t>🟢 Bob — 1,000 sats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C2C8D0"/>
                </a:solidFill>
                <a:latin typeface="Segoe UI"/>
              </a:rPr>
              <a:t>🟡 Carol — 500 sats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>
                <a:solidFill>
                  <a:srgbClr val="8A939F"/>
                </a:solidFill>
                <a:latin typeface="Segoe UI"/>
              </a:rPr>
              <a:t>⚪ Dave — 750 sats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WHY LIGHTNING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Lightning vs. on-chain Bitcoin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3291840" cy="7498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7639" y="2057400"/>
            <a:ext cx="3657600" cy="749808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2057400"/>
            <a:ext cx="3840480" cy="749808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108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57400"/>
            <a:ext cx="3474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On-chain Bitcoin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057400"/>
            <a:ext cx="3657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Lightning Network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16936"/>
            <a:ext cx="3291840" cy="749808"/>
          </a:xfrm>
          <a:prstGeom prst="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2916936"/>
            <a:ext cx="3657600" cy="749808"/>
          </a:xfrm>
          <a:prstGeom prst="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2916936"/>
            <a:ext cx="3840480" cy="749808"/>
          </a:xfrm>
          <a:prstGeom prst="rect">
            <a:avLst/>
          </a:prstGeom>
          <a:solidFill>
            <a:srgbClr val="171C24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16936"/>
            <a:ext cx="3108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916936"/>
            <a:ext cx="3474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8A939F"/>
                </a:solidFill>
                <a:latin typeface="Segoe UI"/>
              </a:rPr>
              <a:t>10–60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916936"/>
            <a:ext cx="3657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Under 2 seconds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76472"/>
            <a:ext cx="3291840" cy="749808"/>
          </a:xfrm>
          <a:prstGeom prst="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3776472"/>
            <a:ext cx="3657600" cy="749808"/>
          </a:xfrm>
          <a:prstGeom prst="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3776472"/>
            <a:ext cx="3840480" cy="749808"/>
          </a:xfrm>
          <a:prstGeom prst="rect">
            <a:avLst/>
          </a:prstGeom>
          <a:solidFill>
            <a:srgbClr val="171C24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76472"/>
            <a:ext cx="3108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76472"/>
            <a:ext cx="3474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8A939F"/>
                </a:solidFill>
                <a:latin typeface="Segoe UI"/>
              </a:rPr>
              <a:t>$1 – $50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776472"/>
            <a:ext cx="3657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&lt; 1 sat (≈ $0.00)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36008"/>
            <a:ext cx="3291840" cy="749808"/>
          </a:xfrm>
          <a:prstGeom prst="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77639" y="4636008"/>
            <a:ext cx="3657600" cy="749808"/>
          </a:xfrm>
          <a:prstGeom prst="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4636008"/>
            <a:ext cx="3840480" cy="749808"/>
          </a:xfrm>
          <a:prstGeom prst="rect">
            <a:avLst/>
          </a:prstGeom>
          <a:solidFill>
            <a:srgbClr val="171C24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636008"/>
            <a:ext cx="3108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Good for tips?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636008"/>
            <a:ext cx="3474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8A939F"/>
                </a:solidFill>
                <a:latin typeface="Segoe UI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636008"/>
            <a:ext cx="3657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Yes — built for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495544"/>
            <a:ext cx="3291840" cy="749808"/>
          </a:xfrm>
          <a:prstGeom prst="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77639" y="5495544"/>
            <a:ext cx="3657600" cy="749808"/>
          </a:xfrm>
          <a:prstGeom prst="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80960" y="5495544"/>
            <a:ext cx="3840480" cy="749808"/>
          </a:xfrm>
          <a:prstGeom prst="rect">
            <a:avLst/>
          </a:prstGeom>
          <a:solidFill>
            <a:srgbClr val="171C24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95544"/>
            <a:ext cx="3108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Feels like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495544"/>
            <a:ext cx="3474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8A939F"/>
                </a:solidFill>
                <a:latin typeface="Segoe UI"/>
              </a:rPr>
              <a:t>A wire transfer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5495544"/>
            <a:ext cx="3657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Tapping a card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What a supporter experiences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2606040" cy="26517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32304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461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Tap a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7033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C2C8D0"/>
                </a:solidFill>
                <a:latin typeface="Segoe UI"/>
              </a:rPr>
              <a:t>Pick 100 / 500 / 1K sats or a custom amount.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1" y="32004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200" b="1">
                <a:solidFill>
                  <a:srgbClr val="FF8C00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2194560"/>
            <a:ext cx="2606040" cy="26517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6744" y="2423160"/>
            <a:ext cx="640080" cy="64008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2432304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32461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Scan the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7033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C2C8D0"/>
                </a:solidFill>
                <a:latin typeface="Segoe UI"/>
              </a:rPr>
              <a:t>Any Lightning wallet — or 'Open in wallet'.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5" y="32004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200" b="1">
                <a:solidFill>
                  <a:srgbClr val="FF8C00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194560"/>
            <a:ext cx="2606040" cy="26517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64808" y="2423160"/>
            <a:ext cx="640080" cy="64008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2432304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461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033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C2C8D0"/>
                </a:solidFill>
                <a:latin typeface="Segoe UI"/>
              </a:rPr>
              <a:t>Payment settles on the Lightning Network.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2004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200" b="1">
                <a:solidFill>
                  <a:srgbClr val="FF8C00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4272" y="2194560"/>
            <a:ext cx="2606040" cy="26517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2872" y="2423160"/>
            <a:ext cx="640080" cy="64008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2872" y="2432304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3" y="32461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Instant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3" y="370332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C2C8D0"/>
                </a:solidFill>
                <a:latin typeface="Segoe UI"/>
              </a:rPr>
              <a:t>Widget shows 'Tip received!' in ~1 second.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7C3AED"/>
                </a:solidFill>
                <a:latin typeface="Segoe UI"/>
              </a:rPr>
              <a:t>Then their tip slides into the live feed — they see themselves supporting the creator.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What a creator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800" b="0">
                <a:solidFill>
                  <a:srgbClr val="C2C8D0"/>
                </a:solidFill>
                <a:latin typeface="Segoe UI"/>
              </a:rPr>
              <a:t>Configure the widget with their LNbits wallet (invoice key only — receive-only).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800" b="0">
                <a:solidFill>
                  <a:srgbClr val="C2C8D0"/>
                </a:solidFill>
                <a:latin typeface="Segoe UI"/>
              </a:rPr>
              <a:t>Set display name, message, and preset tip amounts via environment variables.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800" b="0">
                <a:solidFill>
                  <a:srgbClr val="C2C8D0"/>
                </a:solidFill>
                <a:latin typeface="Segoe UI"/>
              </a:rPr>
              <a:t>Copy the one-line embed snippet from the dashboard / landing page.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800" b="0">
                <a:solidFill>
                  <a:srgbClr val="C2C8D0"/>
                </a:solidFill>
                <a:latin typeface="Segoe UI"/>
              </a:rPr>
              <a:t>Paste it onto a blog, site, or stream panel — the widget renders in an iframe.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800" b="0">
                <a:solidFill>
                  <a:srgbClr val="C2C8D0"/>
                </a:solidFill>
                <a:latin typeface="Segoe UI"/>
              </a:rPr>
              <a:t>Watch tips arrive live; sats settle straight to their Lightning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29200"/>
            <a:ext cx="10881360" cy="109728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38928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Receive-only by design: the app never holds the admin key, so funds can't leave the node through the widget.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Simple, serverless, no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200400" cy="17373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21284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Supporter wallet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70048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C2C8D0"/>
                </a:solidFill>
                <a:latin typeface="Segoe UI"/>
              </a:rPr>
              <a:t>Scans the QR /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C2C8D0"/>
                </a:solidFill>
                <a:latin typeface="Segoe UI"/>
              </a:rPr>
              <a:t>pays the BOLT11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C2C8D0"/>
                </a:solidFill>
                <a:latin typeface="Segoe UI"/>
              </a:rPr>
              <a:t>invoice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03120"/>
            <a:ext cx="3200400" cy="17373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1284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This app  (Vercel)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C2C8D0"/>
                </a:solidFill>
                <a:latin typeface="Segoe UI"/>
              </a:rPr>
              <a:t>Next.js UI + API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C2C8D0"/>
                </a:solidFill>
                <a:latin typeface="Segoe UI"/>
              </a:rPr>
              <a:t>/embed widget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C2C8D0"/>
                </a:solidFill>
                <a:latin typeface="Segoe UI"/>
              </a:rPr>
              <a:t>polls status &amp; feed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103120"/>
            <a:ext cx="3200400" cy="17373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221284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LNbits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670048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C2C8D0"/>
                </a:solidFill>
                <a:latin typeface="Segoe UI"/>
              </a:rPr>
              <a:t>Creates invoices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C2C8D0"/>
                </a:solidFill>
                <a:latin typeface="Segoe UI"/>
              </a:rPr>
              <a:t>Settles payments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C2C8D0"/>
                </a:solidFill>
                <a:latin typeface="Segoe UI"/>
              </a:rPr>
              <a:t>Stores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69748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400" b="1">
                <a:solidFill>
                  <a:srgbClr val="FF8C00"/>
                </a:solidFill>
                <a:latin typeface="Segoe U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69748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400" b="1">
                <a:solidFill>
                  <a:srgbClr val="FF8C00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10881360" cy="17373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8C00"/>
                </a:solidFill>
                <a:latin typeface="Segoe UI"/>
              </a:rPr>
              <a:t>Why no WebSockets?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C2C8D0"/>
                </a:solidFill>
                <a:latin typeface="Segoe UI"/>
              </a:rPr>
              <a:t>Vercel's serverless functions can't hold a socket server. The widget polls invoice status (~1.3s) and the feed (~3s). At Lightning's settlement speed this still feels instant — and it deploys with zero extra infrastructure. The Lightning node's settled-payment history is the single source of truth for the feed, so no separate database is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THE WOW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Sub-second feedback + a live feed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400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7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700" b="0">
                <a:solidFill>
                  <a:srgbClr val="C2C8D0"/>
                </a:solidFill>
                <a:latin typeface="Segoe UI"/>
              </a:rPr>
              <a:t>The moment a tip settles, the widget celebrates — no refresh.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7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700" b="0">
                <a:solidFill>
                  <a:srgbClr val="C2C8D0"/>
                </a:solidFill>
                <a:latin typeface="Segoe UI"/>
              </a:rPr>
              <a:t>Tips stream into the feed newest-first, with name &amp; message.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7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700" b="0">
                <a:solidFill>
                  <a:srgbClr val="C2C8D0"/>
                </a:solidFill>
                <a:latin typeface="Segoe UI"/>
              </a:rPr>
              <a:t>Freshness dots: 🟢 new → 🟡 recent → … older.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7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700" b="0">
                <a:solidFill>
                  <a:srgbClr val="C2C8D0"/>
                </a:solidFill>
                <a:latin typeface="Segoe UI"/>
              </a:rPr>
              <a:t>Live stats: total sats, tip count, average tip.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7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700" b="0">
                <a:solidFill>
                  <a:srgbClr val="C2C8D0"/>
                </a:solidFill>
                <a:latin typeface="Segoe UI"/>
              </a:rPr>
              <a:t>This slot-machine satisfaction is impossible on-chain.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011680"/>
            <a:ext cx="4114800" cy="41148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1488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Recent Tips 💜   ●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697480"/>
            <a:ext cx="3566160" cy="713232"/>
          </a:xfrm>
          <a:prstGeom prst="roundRect">
            <a:avLst/>
          </a:prstGeom>
          <a:solidFill>
            <a:srgbClr val="0F1419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752344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🟢  Satoshi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752344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2,100 sats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08152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8A939F"/>
                </a:solidFill>
                <a:latin typeface="Segoe UI"/>
              </a:rPr>
              <a:t>“great work!”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538728"/>
            <a:ext cx="3566160" cy="713232"/>
          </a:xfrm>
          <a:prstGeom prst="roundRect">
            <a:avLst/>
          </a:prstGeom>
          <a:solidFill>
            <a:srgbClr val="0F1419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59359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🟡  Carol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593592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500 sats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379976"/>
            <a:ext cx="3566160" cy="713232"/>
          </a:xfrm>
          <a:prstGeom prst="roundRect">
            <a:avLst/>
          </a:prstGeom>
          <a:solidFill>
            <a:srgbClr val="0F1419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44348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⚪  Dave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443484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FF8C00"/>
                </a:solidFill>
                <a:latin typeface="Segoe UI"/>
              </a:rPr>
              <a:t>750 sats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764024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8A939F"/>
                </a:solidFill>
                <a:latin typeface="Segoe UI"/>
              </a:rPr>
              <a:t>“love this”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EMBEDDABLE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One line of code, on any 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881360" cy="1554480"/>
          </a:xfrm>
          <a:prstGeom prst="roundRect">
            <a:avLst/>
          </a:prstGeom>
          <a:solidFill>
            <a:srgbClr val="0A0D11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0B981"/>
                </a:solidFill>
                <a:latin typeface="Segoe UI"/>
              </a:rPr>
              <a:t>&lt;div id="lightning-tip"&gt;&lt;/div&gt;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0B981"/>
                </a:solidFill>
                <a:latin typeface="Segoe UI"/>
              </a:rPr>
              <a:t>&lt;script src="https://your-app.vercel.app/embed.js" async&gt;&lt;/script&gt;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600" b="0">
                <a:solidFill>
                  <a:srgbClr val="C2C8D0"/>
                </a:solidFill>
                <a:latin typeface="Segoe UI"/>
              </a:rPr>
              <a:t>The loader injects a responsive iframe pointing at /embed.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600" b="0">
                <a:solidFill>
                  <a:srgbClr val="C2C8D0"/>
                </a:solidFill>
                <a:latin typeface="Segoe UI"/>
              </a:rPr>
              <a:t>Works on blogs, site builders, docs, and stream overlays.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600" b="0">
                <a:solidFill>
                  <a:srgbClr val="C2C8D0"/>
                </a:solidFill>
                <a:latin typeface="Segoe UI"/>
              </a:rPr>
              <a:t>frame-ancestors * header means it embeds anywhere; a raw &lt;iframe&gt; works too.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FF8C00"/>
                </a:solidFill>
                <a:latin typeface="Segoe UI"/>
              </a:rPr>
              <a:t>▸  </a:t>
            </a:r>
            <a:r>
              <a:rPr sz="1600" b="0">
                <a:solidFill>
                  <a:srgbClr val="C2C8D0"/>
                </a:solidFill>
                <a:latin typeface="Segoe UI"/>
              </a:rPr>
              <a:t>Lightweight first-load (~97 KB) so it never slows the host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29000" cy="36576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FF8C00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9260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Next.js 14 (App Router)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React 18 + TypeScript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Tailwind CSS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qrcode.react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429000" cy="36576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FF8C00"/>
                </a:solidFill>
                <a:latin typeface="Segoe U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26080"/>
            <a:ext cx="29260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Next.js API routes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Serverless on Vercel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Polling (no sockets)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Zod-free input guards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103120"/>
            <a:ext cx="3429000" cy="36576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FF8C00"/>
                </a:solidFill>
                <a:latin typeface="Segoe UI"/>
              </a:rPr>
              <a:t>Lightning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29260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LNbits REST API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BOLT11 invoices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Receive-only (invoice key)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0">
                <a:solidFill>
                  <a:srgbClr val="C2C8D0"/>
                </a:solidFill>
                <a:latin typeface="Segoe UI"/>
              </a:rPr>
              <a:t>• Node = source of truth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How anyone verifies it — independently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FF8C00"/>
                </a:solidFill>
                <a:latin typeface="Segoe UI"/>
              </a:rPr>
              <a:t>1.  </a:t>
            </a:r>
            <a:r>
              <a:rPr sz="1700" b="0">
                <a:solidFill>
                  <a:srgbClr val="C2C8D0"/>
                </a:solidFill>
                <a:latin typeface="Segoe UI"/>
              </a:rPr>
              <a:t>Open the live site and click a tip amount in the demo.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FF8C00"/>
                </a:solidFill>
                <a:latin typeface="Segoe UI"/>
              </a:rPr>
              <a:t>2.  </a:t>
            </a:r>
            <a:r>
              <a:rPr sz="1700" b="0">
                <a:solidFill>
                  <a:srgbClr val="C2C8D0"/>
                </a:solidFill>
                <a:latin typeface="Segoe UI"/>
              </a:rPr>
              <a:t>A real BOLT11 invoice (lnbc…) + QR appear — decode it to confirm the amount.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FF8C00"/>
                </a:solidFill>
                <a:latin typeface="Segoe UI"/>
              </a:rPr>
              <a:t>3.  </a:t>
            </a:r>
            <a:r>
              <a:rPr sz="1700" b="0">
                <a:solidFill>
                  <a:srgbClr val="C2C8D0"/>
                </a:solidFill>
                <a:latin typeface="Segoe UI"/>
              </a:rPr>
              <a:t>Pay it with ANY Lightning wallet — no account, no sign-up.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FF8C00"/>
                </a:solidFill>
                <a:latin typeface="Segoe UI"/>
              </a:rPr>
              <a:t>4.  </a:t>
            </a:r>
            <a:r>
              <a:rPr sz="1700" b="0">
                <a:solidFill>
                  <a:srgbClr val="C2C8D0"/>
                </a:solidFill>
                <a:latin typeface="Segoe UI"/>
              </a:rPr>
              <a:t>The widget flips to 'Tip received!' in about a second.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FF8C00"/>
                </a:solidFill>
                <a:latin typeface="Segoe UI"/>
              </a:rPr>
              <a:t>5.  </a:t>
            </a:r>
            <a:r>
              <a:rPr sz="1700" b="0">
                <a:solidFill>
                  <a:srgbClr val="C2C8D0"/>
                </a:solidFill>
                <a:latin typeface="Segoe UI"/>
              </a:rPr>
              <a:t>The tip appears in the live feed and survives a page refresh…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FF8C00"/>
                </a:solidFill>
                <a:latin typeface="Segoe UI"/>
              </a:rPr>
              <a:t>6.  </a:t>
            </a:r>
            <a:r>
              <a:rPr sz="1700" b="0">
                <a:solidFill>
                  <a:srgbClr val="C2C8D0"/>
                </a:solidFill>
                <a:latin typeface="Segoe UI"/>
              </a:rPr>
              <a:t>…because it's read back from the node's settled payment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86868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Proves a real invoice, a real settled payment, and on-chain truth reflected in sub-second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Ship it to Vercel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50" b="1">
                <a:solidFill>
                  <a:srgbClr val="FF8C00"/>
                </a:solidFill>
                <a:latin typeface="Segoe UI"/>
              </a:rPr>
              <a:t>▸  </a:t>
            </a:r>
            <a:r>
              <a:rPr sz="1650" b="0">
                <a:solidFill>
                  <a:srgbClr val="C2C8D0"/>
                </a:solidFill>
                <a:latin typeface="Segoe UI"/>
              </a:rPr>
              <a:t>Push the repo to GitHub and import it at vercel.com/new (auto-detected as Next.js).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50" b="1">
                <a:solidFill>
                  <a:srgbClr val="FF8C00"/>
                </a:solidFill>
                <a:latin typeface="Segoe UI"/>
              </a:rPr>
              <a:t>▸  </a:t>
            </a:r>
            <a:r>
              <a:rPr sz="1650" b="0">
                <a:solidFill>
                  <a:srgbClr val="C2C8D0"/>
                </a:solidFill>
                <a:latin typeface="Segoe UI"/>
              </a:rPr>
              <a:t>Add env vars: LNBITS_URL, LNBITS_INVOICE_KEY, CREATOR_* , NETWORK_LABEL, NEXT_PUBLIC_BASE_URL.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50" b="1">
                <a:solidFill>
                  <a:srgbClr val="FF8C00"/>
                </a:solidFill>
                <a:latin typeface="Segoe UI"/>
              </a:rPr>
              <a:t>▸  </a:t>
            </a:r>
            <a:r>
              <a:rPr sz="1650" b="0">
                <a:solidFill>
                  <a:srgbClr val="C2C8D0"/>
                </a:solidFill>
                <a:latin typeface="Segoe UI"/>
              </a:rPr>
              <a:t>Deploy — SSL and CDN are automatic.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50" b="1">
                <a:solidFill>
                  <a:srgbClr val="FF8C00"/>
                </a:solidFill>
                <a:latin typeface="Segoe UI"/>
              </a:rPr>
              <a:t>▸  </a:t>
            </a:r>
            <a:r>
              <a:rPr sz="1650" b="0">
                <a:solidFill>
                  <a:srgbClr val="C2C8D0"/>
                </a:solidFill>
                <a:latin typeface="Segoe UI"/>
              </a:rPr>
              <a:t>Network choice is just which LNbits you point at — testnet (no real money) or mainnet (tiny sats).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650" b="1">
                <a:solidFill>
                  <a:srgbClr val="FF8C00"/>
                </a:solidFill>
                <a:latin typeface="Segoe UI"/>
              </a:rPr>
              <a:t>▸  </a:t>
            </a:r>
            <a:r>
              <a:rPr sz="1650" b="0">
                <a:solidFill>
                  <a:srgbClr val="C2C8D0"/>
                </a:solidFill>
                <a:latin typeface="Segoe UI"/>
              </a:rPr>
              <a:t>For the strongest independent test, mainnet with 1–21 sat presets lets anyone pay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12080"/>
            <a:ext cx="10881360" cy="91440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8C00"/>
                </a:solidFill>
                <a:latin typeface="Segoe UI"/>
              </a:rPr>
              <a:t>Same code on either network — only the LNbits credentials change.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8C00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Roadmap beyond the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349240" cy="329184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C2C8D0"/>
                </a:solidFill>
                <a:latin typeface="Segoe UI"/>
              </a:rPr>
              <a:t>• Multi-creator sign-up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C2C8D0"/>
                </a:solidFill>
                <a:latin typeface="Segoe UI"/>
              </a:rPr>
              <a:t>• Lightning-address auth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C2C8D0"/>
                </a:solidFill>
                <a:latin typeface="Segoe UI"/>
              </a:rPr>
              <a:t>• Creator dashboard + 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349240" cy="329184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23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>
                <a:solidFill>
                  <a:srgbClr val="7C3AED"/>
                </a:solidFill>
                <a:latin typeface="Segoe UI"/>
              </a:rPr>
              <a:t>Creator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8036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C2C8D0"/>
                </a:solidFill>
                <a:latin typeface="Segoe UI"/>
              </a:rPr>
              <a:t>• Withdrawals (admin key + payouts)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C2C8D0"/>
                </a:solidFill>
                <a:latin typeface="Segoe UI"/>
              </a:rPr>
              <a:t>• Per-creator widget themes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600" b="0">
                <a:solidFill>
                  <a:srgbClr val="C2C8D0"/>
                </a:solidFill>
                <a:latin typeface="Segoe UI"/>
              </a:rPr>
              <a:t>• Email / push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8A939F"/>
                </a:solidFill>
                <a:latin typeface="Segoe UI"/>
              </a:rPr>
              <a:t>Tonight's deliverable: a real, verifiable, single-creator slice that works end-to-end.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4630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11480859080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>
                <a:solidFill>
                  <a:srgbClr val="FF8C00"/>
                </a:solidFill>
                <a:latin typeface="Segoe UI"/>
              </a:rPr>
              <a:t>⚡  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A one-line embeddable Lightning tip jar with a live feed and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sub-second confirmations — real sats, verifiable on-chain.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2468880" cy="8229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Instant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4297680"/>
            <a:ext cx="2468880" cy="8229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297680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Embeddable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97680"/>
            <a:ext cx="2468880" cy="8229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97680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Verifiable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4297680"/>
            <a:ext cx="2468880" cy="822960"/>
          </a:xfrm>
          <a:prstGeom prst="roundRect">
            <a:avLst/>
          </a:prstGeom>
          <a:solidFill>
            <a:srgbClr val="171C24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297680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Vercel-ready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8A939F"/>
                </a:solidFill>
                <a:latin typeface="Segoe UI"/>
              </a:rPr>
              <a:t>Thank you  ·  ⚡ Lightning Tips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